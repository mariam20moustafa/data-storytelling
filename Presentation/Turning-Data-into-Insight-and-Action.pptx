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39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7713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Storytelling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641500"/>
            <a:ext cx="4667845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Turning Data into Insight and Action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952577" y="368751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Combining </a:t>
            </a:r>
            <a:r>
              <a:rPr lang="en-US" sz="11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+ visuals + narrative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transform numbers into clear, actionable messages that drive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9805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Data Storytelling?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602432"/>
            <a:ext cx="2259137" cy="1805806"/>
          </a:xfrm>
          <a:prstGeom prst="roundRect">
            <a:avLst>
              <a:gd name="adj" fmla="val 1243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75200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061716"/>
            <a:ext cx="1959992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Companies collect huge amounts of data, but raw numbers alone are too technical and meaningless without context.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602432"/>
            <a:ext cx="2259137" cy="1805806"/>
          </a:xfrm>
          <a:prstGeom prst="roundRect">
            <a:avLst>
              <a:gd name="adj" fmla="val 1243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175200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2061716"/>
            <a:ext cx="1959992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storytelling explains the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"why,"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not just the "what" — making insights understandable and memorable.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557811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370738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Goal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4017094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faster decisions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action by turning data into a clear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Three Core Elements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999" y="1087490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storytelling combines three essential elements: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1999" y="1406811"/>
            <a:ext cx="39571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The factual foundation. Must be accurate and reliable.</a:t>
            </a:r>
            <a:endParaRPr lang="en-US" sz="16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Narrative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Connects numbers into a message: problem → insight → recommendation.</a:t>
            </a:r>
            <a:endParaRPr lang="en-US" sz="16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Visuals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Charts, graphs, and dashboards that reveal patterns and make insights memorable.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1999" y="3491643"/>
            <a:ext cx="4048423" cy="295275"/>
          </a:xfrm>
          <a:prstGeom prst="roundRect">
            <a:avLst>
              <a:gd name="adj" fmla="val 5558"/>
            </a:avLst>
          </a:prstGeom>
          <a:solidFill>
            <a:srgbClr val="08786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780" y="2929533"/>
            <a:ext cx="93464" cy="747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4634" y="3561076"/>
            <a:ext cx="4096569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Storytelling = Data + Narrative +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the Elements Work Together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47" y="-450601"/>
            <a:ext cx="6255841" cy="4311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2987" y="1846408"/>
            <a:ext cx="1709538" cy="21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13000" y="903308"/>
            <a:ext cx="1714472" cy="214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Analysis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45830" y="2389224"/>
            <a:ext cx="1709537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Narrative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42448" y="1386348"/>
            <a:ext cx="1709538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8794" y="3276467"/>
            <a:ext cx="6973192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element builds on the last — accurate data is analyzed, shaped into a narrative, visualized for clarity, and understood by the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audience, ultimately driving better decisions.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826" y="4006901"/>
            <a:ext cx="3957191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❌</a:t>
            </a: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Weak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7376" y="4280340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"Sales decreased by 15%."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1999" y="3967995"/>
            <a:ext cx="4268315" cy="910981"/>
          </a:xfrm>
          <a:prstGeom prst="roundRect">
            <a:avLst>
              <a:gd name="adj" fmla="val 2787"/>
            </a:avLst>
          </a:prstGeom>
          <a:solidFill>
            <a:srgbClr val="0A988B"/>
          </a:solidFill>
          <a:ln/>
        </p:spPr>
      </p:sp>
      <p:sp>
        <p:nvSpPr>
          <p:cNvPr id="12" name="Text 9"/>
          <p:cNvSpPr/>
          <p:nvPr/>
        </p:nvSpPr>
        <p:spPr>
          <a:xfrm>
            <a:off x="4627472" y="4024914"/>
            <a:ext cx="3915370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 Strong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14180" y="4279343"/>
            <a:ext cx="3915370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"Sales dropped 15% in the southern region after a competitor launched a discount campaign. The company should review its pricing strategy."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5099"/>
            <a:ext cx="4667845" cy="756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Visualization Matters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357015"/>
            <a:ext cx="321394" cy="3213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577" y="1816522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Reveal Patterns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23577" y="2071836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Charts and graphs expose trends and relationships hidden in raw numbers.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484016"/>
            <a:ext cx="321394" cy="3213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577" y="2943523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Faster Understanding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523577" y="3198837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Visuals help audiences grasp complex information more quickly and effectively.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611017"/>
            <a:ext cx="321394" cy="3213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577" y="4070524"/>
            <a:ext cx="466784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Drive Action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523577" y="4325838"/>
            <a:ext cx="466784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Good visualizations answer: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What happened? Why does it matter? What should we do next?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7635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Chart Types at a Glance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3577" y="1301279"/>
            <a:ext cx="3868787" cy="3191470"/>
          </a:xfrm>
          <a:prstGeom prst="roundRect">
            <a:avLst>
              <a:gd name="adj" fmla="val 69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725513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147367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569220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224808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646661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4068514"/>
            <a:ext cx="3868787" cy="920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5680" y="1397719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Chart Type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19325" y="1397719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Best Used For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5680" y="1819573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Bar Chart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19325" y="1819573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Comparing categories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5680" y="2241426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 Chart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19325" y="2241426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Showing trends over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5680" y="2663279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Pie Chart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19325" y="2663279"/>
            <a:ext cx="2021012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Displaying proportions (4–5 categories)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5680" y="3318867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Scatter Plot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19325" y="3318867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Showing relationships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5680" y="3740721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Heat Map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19325" y="3740721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Highlighting intensity or patterns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5680" y="4162574"/>
            <a:ext cx="1706314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19325" y="4162574"/>
            <a:ext cx="247821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Combining multiple insights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6398" y="1283196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Makes a Good Visualization?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56398" y="1644700"/>
            <a:ext cx="3868787" cy="137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clear and simple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avoid clutter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the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appropriate chart type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your data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Highlight the key insight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not everything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color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intentionally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not excessively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Never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mislead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with distorted scales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8356"/>
            <a:ext cx="4667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Data Storytelling Tools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1420341"/>
            <a:ext cx="4667845" cy="101686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3970" y="1825303"/>
            <a:ext cx="206871" cy="20687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650358" y="1577280"/>
            <a:ext cx="3813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Tableau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4650358" y="1856408"/>
            <a:ext cx="381312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Drag-and-drop interface for interactive dashboards. Best for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business analytics, sales analysis,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performance dashboards.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2564309"/>
            <a:ext cx="4667845" cy="101686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3970" y="2969270"/>
            <a:ext cx="206871" cy="20687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650358" y="2721248"/>
            <a:ext cx="3813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Microsoft Power BI</a:t>
            </a:r>
            <a:endParaRPr lang="en-US" sz="1250" dirty="0"/>
          </a:p>
        </p:txBody>
      </p:sp>
      <p:sp>
        <p:nvSpPr>
          <p:cNvPr id="11" name="Text 4"/>
          <p:cNvSpPr/>
          <p:nvPr/>
        </p:nvSpPr>
        <p:spPr>
          <a:xfrm>
            <a:off x="4650358" y="3000375"/>
            <a:ext cx="381312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Connects to Excel, databases, and cloud services with AI-powered insights. Best for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business reporting and financial analysis.</a:t>
            </a:r>
            <a:endParaRPr lang="en-US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3708276"/>
            <a:ext cx="4667845" cy="101686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3970" y="4113237"/>
            <a:ext cx="206871" cy="20687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650358" y="3865215"/>
            <a:ext cx="3813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Looker Studio</a:t>
            </a:r>
            <a:endParaRPr lang="en-US" sz="1250" dirty="0"/>
          </a:p>
        </p:txBody>
      </p:sp>
      <p:sp>
        <p:nvSpPr>
          <p:cNvPr id="15" name="Text 6"/>
          <p:cNvSpPr/>
          <p:nvPr/>
        </p:nvSpPr>
        <p:spPr>
          <a:xfrm>
            <a:off x="4650358" y="4144342"/>
            <a:ext cx="381312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Free tool integrating with Google Analytics and Sheets. Best for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marketing analytics and digital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1257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Storytelling Techniques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951806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586234" y="198804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09724" y="2003227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Adapt to Your Audience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9724" y="2312938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CEO: "Revenue up 15%." Marketing: "Campaign X drove 15% growth — invest more."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5464" y="1951806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4728121" y="198804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51611" y="2003227"/>
            <a:ext cx="34688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Focus on One Key Message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51611" y="2312938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Don't overwhelm — highlight the single most important insight and build around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3577" y="3090937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586234" y="3127177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09724" y="3142357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 the Right Visuals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9724" y="3452068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Match chart type to data: line for trends, bar for comparisons, pie for proportions.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5464" y="3090937"/>
            <a:ext cx="336575" cy="336575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4728121" y="3127177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51611" y="3142357"/>
            <a:ext cx="34688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Keep It Simple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51611" y="3452068"/>
            <a:ext cx="34688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Show only data that supports your main message. A clear presentation beats a crowded 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658"/>
            <a:ext cx="8096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Case Study: Amazon's Recommendation Engine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14934"/>
            <a:ext cx="5147146" cy="2895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182" y="1532186"/>
            <a:ext cx="261892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Story (Data &amp; Insight)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182" y="1854473"/>
            <a:ext cx="261892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Amazon analyzed browsing history, purchases, and search behavior — discovering that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personalized recommendations significantly increase purchases.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06182" y="2804220"/>
            <a:ext cx="261892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Action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182" y="3126507"/>
            <a:ext cx="2618929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a recommendation engine suggesting products based on each customer's interests and activity.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06182" y="3869531"/>
            <a:ext cx="261892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6182" y="4191819"/>
            <a:ext cx="2618929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Improved customer experience and generated </a:t>
            </a:r>
            <a:r>
              <a:rPr lang="en-US" sz="10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~35% of Amazon's total sales.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616"/>
            <a:ext cx="8096845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Real-World Case Studies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53021"/>
            <a:ext cx="3991347" cy="24668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3511153"/>
            <a:ext cx="399134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📱</a:t>
            </a: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Tech Startup: App Feature Redesign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577" y="3742581"/>
            <a:ext cx="3991347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Heat maps and word clouds revealed users abandoning a confusing feature. After redesigning the UI and adding tooltips: </a:t>
            </a: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+30% ratings, +12% retention.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01" y="953021"/>
            <a:ext cx="3991421" cy="24668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9001" y="3511153"/>
            <a:ext cx="399142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🚚</a:t>
            </a: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Logistics Company: Route Optimization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629001" y="3742581"/>
            <a:ext cx="3991421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and fuel data exposed inefficient routes. Dynamic route optimization and fuel-efficient vehicles achieved: </a:t>
            </a: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–20% delivery costs, +15% on-time deliveries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 3 months.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98897" y="4447580"/>
            <a:ext cx="837872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"Data visualization transforms data into understanding, while storytelling transforms understanding into action."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23577" y="4344888"/>
            <a:ext cx="14288" cy="371921"/>
          </a:xfrm>
          <a:prstGeom prst="roundRect">
            <a:avLst>
              <a:gd name="adj" fmla="val 49998"/>
            </a:avLst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680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Unbounded</vt:lpstr>
      <vt:lpstr>Cabin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احمد سيد كامل مسعود</cp:lastModifiedBy>
  <cp:revision>3</cp:revision>
  <dcterms:created xsi:type="dcterms:W3CDTF">2026-07-29T22:00:50Z</dcterms:created>
  <dcterms:modified xsi:type="dcterms:W3CDTF">2026-07-29T22:08:29Z</dcterms:modified>
</cp:coreProperties>
</file>